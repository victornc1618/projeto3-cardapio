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DE153-325E-437F-9362-3BA6B823F6D6}" v="194" dt="2026-10-01T04:32:46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20102-2070-4E87-A041-9C8C52CC0444}" type="datetimeFigureOut">
              <a:t>30/09/2026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17547-088D-44B9-96F0-F6A45652A2C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72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79284" y="-950920"/>
            <a:ext cx="4754880" cy="475488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C8553D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8016" y="2739855"/>
            <a:ext cx="3291840" cy="32918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Digital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559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Victor Nunes Castro</a:t>
            </a: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Centro Universitário de Goiás – UNIGOIÁS</a:t>
            </a: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Goiânia – GO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2026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Gráfico 5" descr="A Marca – UNIGOIÁS – CENTRO UNIVERSITÁRIO DE GOIÁS">
            <a:extLst>
              <a:ext uri="{FF2B5EF4-FFF2-40B4-BE49-F238E27FC236}">
                <a16:creationId xmlns:a16="http://schemas.microsoft.com/office/drawing/2014/main" id="{D5E12AAC-D55F-7906-8FFA-DDB9EE0C4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145" y="147058"/>
            <a:ext cx="2743199" cy="876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Projeto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criar páginas digitais de restaurantes, com cardápio online e pedidos via WhatsApp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páginas digitais personalizadas para restaurantes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Divulgar o cardápio e receber pedidos pelo WhatsApp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a presença digital e a conversão de vendas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Justificativa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Muitos </a:t>
            </a:r>
            <a:r>
              <a:rPr lang="en-US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restaurantes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dependem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de redes </a:t>
            </a:r>
            <a:r>
              <a:rPr lang="en-US" sz="1200" dirty="0" err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sociais</a:t>
            </a:r>
            <a:r>
              <a:rPr lang="en-US" sz="12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inicial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restaurantes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páginas personalizadas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produtos e categorias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de cardápio digital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imagens e vídeos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promoções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WhatsApp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Victor Nunes Castro   |   Metodologia ágil, entregas semanais   |   Status: em andamento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Projeto: cronograma, custos e riscos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8553D"/>
                </a:solidFill>
                <a:latin typeface="Cambria"/>
                <a:ea typeface="Cambria"/>
                <a:cs typeface="Cambria" pitchFamily="34" charset="-120"/>
              </a:rPr>
              <a:t>Estimativa</a:t>
            </a:r>
            <a:endParaRPr lang="en-US" sz="1500" dirty="0" err="1">
              <a:latin typeface="Cambria"/>
              <a:ea typeface="Cambria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08874"/>
              </p:ext>
            </p:extLst>
          </p:nvPr>
        </p:nvGraphicFramePr>
        <p:xfrm>
          <a:off x="457200" y="1371600"/>
          <a:ext cx="4114800" cy="23042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Meses</a:t>
                      </a:r>
                      <a:endParaRPr lang="pt-BR" dirty="0"/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Levantamento de requisitos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1 </a:t>
                      </a:r>
                      <a:r>
                        <a:rPr lang="en-US" sz="1200" dirty="0" err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mês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 do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1 </a:t>
                      </a:r>
                      <a:r>
                        <a:rPr lang="en-US" sz="1200" dirty="0" err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mês</a:t>
                      </a:r>
                      <a:endParaRPr lang="en-US" sz="1200" dirty="0" err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do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4 meses</a:t>
                      </a:r>
                      <a:endParaRPr lang="pt-BR" dirty="0"/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do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4 meses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com WhatsApp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1 </a:t>
                      </a:r>
                      <a:r>
                        <a:rPr lang="en-US" sz="1200" dirty="0" err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mês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e 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1 </a:t>
                      </a:r>
                      <a:r>
                        <a:rPr lang="en-US" sz="1200" dirty="0" err="1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mês</a:t>
                      </a:r>
                      <a:endParaRPr lang="pt-BR" dirty="0" err="1"/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preliminares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875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(mensal)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(anual)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(impacto x probabilidade)</a:t>
            </a:r>
            <a:endParaRPr lang="en-US" sz="15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926080"/>
          <a:ext cx="3749040" cy="16459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adesão de usuários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Problemas na integração com WhatsApp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 de usabilidade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Instabilidade do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Premissas: usuários com internet, restaurantes no WhatsApp, acesso via celular. Restrições: pouco tempo, equipe e recursos reduzidos.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1B14"/>
                </a:solidFill>
                <a:latin typeface="Cambria"/>
              </a:rPr>
              <a:t>Requisitos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6B6258"/>
                </a:solidFill>
                <a:latin typeface="Calibri"/>
              </a:rPr>
              <a:t>25 requisitos funcionais (RF) e 11 requisitos não funcionais (RNF)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937760" cy="347472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8553D"/>
                </a:solidFill>
                <a:latin typeface="Cambria"/>
              </a:rPr>
              <a:t>Funcionais (RF)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</a:pPr>
            <a:r>
              <a:rPr sz="1300" b="1" dirty="0" err="1">
                <a:solidFill>
                  <a:srgbClr val="2B2B2B"/>
                </a:solidFill>
                <a:latin typeface="Calibri"/>
              </a:rPr>
              <a:t>Autenticação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e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acesso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(RF-01 a 03)</a:t>
            </a:r>
          </a:p>
          <a:p>
            <a:r>
              <a:rPr sz="1300" b="0" dirty="0">
                <a:solidFill>
                  <a:srgbClr val="2B2B2B"/>
                </a:solidFill>
                <a:latin typeface="Calibri"/>
              </a:rPr>
              <a:t>Login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e-mail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senha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perfis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Super Admin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Proprietário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logout com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sessão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segura</a:t>
            </a:r>
            <a:endParaRPr sz="1300" b="0" dirty="0" err="1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200"/>
              </a:spcBef>
            </a:pPr>
            <a:r>
              <a:rPr sz="1300" b="1" dirty="0" err="1">
                <a:solidFill>
                  <a:srgbClr val="2B2B2B"/>
                </a:solidFill>
                <a:latin typeface="Calibri"/>
              </a:rPr>
              <a:t>Painel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Super Admin (RF-04 a 06)</a:t>
            </a:r>
            <a:endParaRPr sz="1300" b="1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r>
              <a:rPr sz="1300" b="0" dirty="0" err="1">
                <a:solidFill>
                  <a:srgbClr val="2B2B2B"/>
                </a:solidFill>
                <a:latin typeface="Calibri"/>
              </a:rPr>
              <a:t>Cadastrar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listar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estabelecimentos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alterar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plano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ativar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/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desativar</a:t>
            </a:r>
            <a:endParaRPr sz="1300" b="0" dirty="0" err="1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200"/>
              </a:spcBef>
            </a:pPr>
            <a:r>
              <a:rPr sz="1300" b="1" dirty="0">
                <a:solidFill>
                  <a:srgbClr val="2B2B2B"/>
                </a:solidFill>
                <a:latin typeface="Calibri"/>
              </a:rPr>
              <a:t>Dashboard do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proprietário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(RF-07 a 20)</a:t>
            </a:r>
            <a:endParaRPr sz="1300" b="1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r>
              <a:rPr sz="1300" b="0" dirty="0" err="1">
                <a:solidFill>
                  <a:srgbClr val="2B2B2B"/>
                </a:solidFill>
                <a:latin typeface="Calibri"/>
              </a:rPr>
              <a:t>Perfil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horários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logo e banner, link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público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categorias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itens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do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cardápio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promoções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galeria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 hero,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Sobre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Nós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pop-up, Google Reviews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carrinho</a:t>
            </a:r>
            <a:endParaRPr sz="1300" b="0" dirty="0" err="1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200"/>
              </a:spcBef>
            </a:pPr>
            <a:r>
              <a:rPr sz="1300" b="1" dirty="0">
                <a:solidFill>
                  <a:srgbClr val="2B2B2B"/>
                </a:solidFill>
                <a:latin typeface="Calibri"/>
              </a:rPr>
              <a:t>Página </a:t>
            </a:r>
            <a:r>
              <a:rPr sz="1300" b="1" dirty="0" err="1">
                <a:solidFill>
                  <a:srgbClr val="2B2B2B"/>
                </a:solidFill>
                <a:latin typeface="Calibri"/>
              </a:rPr>
              <a:t>pública</a:t>
            </a:r>
            <a:r>
              <a:rPr sz="1300" b="1" dirty="0">
                <a:solidFill>
                  <a:srgbClr val="2B2B2B"/>
                </a:solidFill>
                <a:latin typeface="Calibri"/>
              </a:rPr>
              <a:t> (RF-21 a 25)</a:t>
            </a:r>
            <a:endParaRPr sz="1300" b="1" dirty="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  <a:p>
            <a:r>
              <a:rPr sz="1300" b="0" dirty="0">
                <a:solidFill>
                  <a:srgbClr val="2B2B2B"/>
                </a:solidFill>
                <a:latin typeface="Calibri"/>
              </a:rPr>
              <a:t>Landing </a:t>
            </a:r>
            <a:r>
              <a:rPr lang="pt-BR" sz="1300" dirty="0" err="1">
                <a:solidFill>
                  <a:srgbClr val="2B2B2B"/>
                </a:solidFill>
                <a:latin typeface="Calibri"/>
              </a:rPr>
              <a:t>page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filtro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categoria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status Aberto Agora,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botão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de WhatsApp 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carrinho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pedidos</a:t>
            </a:r>
            <a:endParaRPr sz="1300" b="0" dirty="0" err="1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77840" y="1280160"/>
            <a:ext cx="3108960" cy="347472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0" y="13898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B87400"/>
                </a:solidFill>
                <a:latin typeface="Cambria"/>
              </a:rPr>
              <a:t>Não funcionais (RNF)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83080"/>
            <a:ext cx="27432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2B2B2B"/>
                </a:solidFill>
                <a:latin typeface="Calibri"/>
              </a:rPr>
              <a:t>Desempenho (RNF-01 a 03)</a:t>
            </a:r>
          </a:p>
          <a:p>
            <a:r>
              <a:rPr sz="1200" b="0">
                <a:solidFill>
                  <a:srgbClr val="2B2B2B"/>
                </a:solidFill>
                <a:latin typeface="Calibri"/>
              </a:rPr>
              <a:t>Carga em menos de 2 s, imagens via CDN (WebP/AVIF) e SSR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2B2B2B"/>
                </a:solidFill>
                <a:latin typeface="Calibri"/>
              </a:rPr>
              <a:t>Segurança (RNF-04 a 06)</a:t>
            </a:r>
          </a:p>
          <a:p>
            <a:r>
              <a:rPr sz="1200" b="0">
                <a:solidFill>
                  <a:srgbClr val="2B2B2B"/>
                </a:solidFill>
                <a:latin typeface="Calibri"/>
              </a:rPr>
              <a:t>Isolamento multi-tenant (RLS), rotas protegidas por JWT, HTTPS/TLS e senhas com hash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2B2B2B"/>
                </a:solidFill>
                <a:latin typeface="Calibri"/>
              </a:rPr>
              <a:t>Usabilidade (RNF-07 a 09)</a:t>
            </a:r>
          </a:p>
          <a:p>
            <a:r>
              <a:rPr sz="1200" b="0">
                <a:solidFill>
                  <a:srgbClr val="2B2B2B"/>
                </a:solidFill>
                <a:latin typeface="Calibri"/>
              </a:rPr>
              <a:t>Mobile-first, Chrome, Safari, Firefox e Edge, feedback visual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2B2B2B"/>
                </a:solidFill>
                <a:latin typeface="Calibri"/>
              </a:rPr>
              <a:t>Disponibilidade (RNF-10 e 11)</a:t>
            </a:r>
          </a:p>
          <a:p>
            <a:r>
              <a:rPr sz="1200" b="0">
                <a:solidFill>
                  <a:srgbClr val="2B2B2B"/>
                </a:solidFill>
                <a:latin typeface="Calibri"/>
              </a:rPr>
              <a:t>99,5% de uptime, TypeScript estrito e código modular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Parametrização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restaurante (nome e WhatsApp obrigatórios)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 nome e preço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cria negócio, plano e slug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Galeria, promoções e log de ações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sem nome ou telefone válido é recusado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sem nome ou preço é recusado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só com produtos válidos e cadastrados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5544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one-page por slug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Seções: Hero, Sobre, Cardápio, Galeria, Promoções, Contato/Mapa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enviado ao WhatsApp (entrega ou retirada; Pix, dinheiro ou cartão)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Essencial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fotos na galeria e contato direto via WhatsApp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2B1B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Profissional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15 fotos, carrinho de pedidos, aparência personalizada, popup e Google Reviews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Fluxogramas do Sistema</a:t>
            </a:r>
            <a:endParaRPr lang="en-US" sz="3000" dirty="0"/>
          </a:p>
        </p:txBody>
      </p:sp>
      <p:pic>
        <p:nvPicPr>
          <p:cNvPr id="3" name="Image 0" descr="flo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13" y="1097280"/>
            <a:ext cx="3781135" cy="3200400"/>
          </a:xfrm>
          <a:prstGeom prst="rect">
            <a:avLst/>
          </a:prstGeom>
        </p:spPr>
      </p:pic>
      <p:pic>
        <p:nvPicPr>
          <p:cNvPr id="4" name="Image 1" descr="flow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601" y="1097280"/>
            <a:ext cx="2967038" cy="3200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gestão: do cadastro do negócio à página pública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na página pública: Essencial (contato direto) ou Profissional (carrinho)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 Estrutura do Banco</a:t>
            </a:r>
            <a:endParaRPr lang="en-US" sz="3000" dirty="0"/>
          </a:p>
        </p:txBody>
      </p:sp>
      <p:pic>
        <p:nvPicPr>
          <p:cNvPr id="3" name="Image 0" descr="der.png"/>
          <p:cNvPicPr>
            <a:picLocks noChangeAspect="1"/>
          </p:cNvPicPr>
          <p:nvPr/>
        </p:nvPicPr>
        <p:blipFill>
          <a:blip r:embed="rId3"/>
          <a:srcRect b="-6417"/>
          <a:stretch>
            <a:fillRect/>
          </a:stretch>
        </p:blipFill>
        <p:spPr>
          <a:xfrm>
            <a:off x="457200" y="1374827"/>
            <a:ext cx="4206240" cy="3106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 1:N em todas as relações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840480" cy="295046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(super_admin ou owner)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Negócio, plano, slug, 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menu_categories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Categorias do cardápio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e preços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Promoções com período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business_photos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Galeria de fotos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API: autenticação e estabelecimentos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Content-Type: application/json  |  apikey: &lt;ANON_KEY&gt;  |  Authorization: Bearer &lt;JWT&gt;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5643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/api/admin/businesses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negócio e proprietário (super_admin)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/auth/v1/token?grant_type=password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(retorna JWT e refresh_token)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/auth/v1/user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Obtém o usuário atual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/auth/v1/logout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Encerra a sessão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/rest/v1/businesses?slug=eq.{slug}&amp;select=*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públicos da página (público)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/rest/v1/businesses?owner_id=eq.{id}&amp;select=*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do dono logado (dono/admin)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/rest/v1/businesses?select=*,profiles(*)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todos os negócios (super 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/rest/v1/businesses?id=eq.{id}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 dados, tema, horários e aparência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API: categorias e itens do cardápio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(/rest/v1)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5643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/rest/v1/menu_categories?business_id=eq.{id}&amp;order=sort_order.asc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categorias do estabelecimento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/rest/v1/menu_categories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nova categoria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/rest/v1/menu_categories?id=eq.{id}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 nome e ordem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/rest/v1/menu_categories?id=eq.{id}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categoria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/rest/v1/menu_items?business_id=eq.{id}&amp;order=sort_order.asc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itens do cardápio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/rest/v1/menu_items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produto/prato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/rest/v1/menu_items?id=eq.{id}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 preço, estoque ou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/rest/v1/menu_items?id=eq.{id}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o 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API: promoções, galeria e storage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e Supabase Storage (bucket business-assets)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1181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/rest/v1/promotions?business_id=eq.{id}&amp;is_active=eq.true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promoções ativas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/rest/v1/promotions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promoção (Plano Profissional)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/rest/v1/promotions?id=eq.{id}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 status ou datas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/rest/v1/promotions?id=eq.{id}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Exclui promoção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/rest/v1/business_photos?business_id=eq.{id}&amp;order=sort_order.asc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fotos da galeria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/rest/v1/business_photos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 nova foto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/rest/v1/business_photos?id=eq.{id}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/storage/v1/object/business-assets/{caminho_arquivo}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(multipart/form-data)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/storage/v1/object/business-assets/{caminho_arquivo}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imagem do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7F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/storage/v1/object/public/business-assets/{caminho_arquivo}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público às imagens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Retornos: 200 OK, 201 Created, 204 No Content, 400 Bad Request, 401 Unauthorized, 403 Forbidden, 404 Not Found, 500 Internal Server Error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10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52</cp:revision>
  <dcterms:created xsi:type="dcterms:W3CDTF">2026-10-01T03:35:46Z</dcterms:created>
  <dcterms:modified xsi:type="dcterms:W3CDTF">2026-10-01T04:49:33Z</dcterms:modified>
</cp:coreProperties>
</file>